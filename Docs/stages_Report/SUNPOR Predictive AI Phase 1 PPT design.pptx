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30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6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38912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981367"/>
            <a:ext cx="2377440" cy="302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SUNPOR</a:t>
            </a:r>
            <a:endParaRPr lang="en-US" sz="13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2410630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Predictive AI</a:t>
            </a:r>
            <a:endParaRPr lang="en-US" sz="31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2959270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Phase 1 - </a:t>
            </a:r>
            <a:r>
              <a:rPr lang="en-US" sz="2900" b="1" dirty="0" err="1" smtClean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Abschlussbericht</a:t>
            </a:r>
            <a:endParaRPr lang="en-US" sz="2900" b="1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367808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Phase 1 - Infrastruktur- und Datenerfassungs-Setup</a:t>
            </a:r>
            <a:endParaRPr lang="en-US" sz="16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3232" y="414799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Status: Abgeschlossen</a:t>
            </a:r>
            <a:endParaRPr lang="en-US" sz="15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53492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Erstellt von:</a:t>
            </a:r>
            <a:endParaRPr lang="en-US" sz="1350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Sclera KI Cyber Solutions</a:t>
            </a:r>
            <a:endParaRPr lang="en-US" sz="1350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SUNPOR Predictive AI Projektteam</a:t>
            </a:r>
            <a:endParaRPr lang="en-US" sz="13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0" name="Image 0" descr="/mnt/data/WhatsApp Image 2026-06-22 at 3.54.38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64211"/>
            <a:ext cx="5074920" cy="97937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0" y="2011680"/>
            <a:ext cx="5074920" cy="0"/>
          </a:xfrm>
          <a:prstGeom prst="line">
            <a:avLst/>
          </a:prstGeom>
          <a:noFill/>
          <a:ln w="13970">
            <a:solidFill>
              <a:srgbClr val="00E6C7"/>
            </a:solidFill>
            <a:prstDash val="solid"/>
          </a:ln>
        </p:spPr>
      </p:sp>
      <p:pic>
        <p:nvPicPr>
          <p:cNvPr id="12" name="Image 1" descr="/mnt/data/WhatsApp Image 2026-06-22 at 3.54.37 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440598"/>
            <a:ext cx="5074920" cy="72000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0" y="5230368"/>
            <a:ext cx="5074920" cy="0"/>
          </a:xfrm>
          <a:prstGeom prst="line">
            <a:avLst/>
          </a:prstGeom>
          <a:noFill/>
          <a:ln w="13970">
            <a:solidFill>
              <a:srgbClr val="00E6C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0" y="225856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 err="1" smtClean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Grundlage</a:t>
            </a:r>
            <a:r>
              <a:rPr lang="en-US" sz="2400" dirty="0" smtClean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für Live-Datenerfassung geschaffen</a:t>
            </a:r>
            <a:endParaRPr lang="en-US" sz="24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400800" y="2944368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E10-Produktionssignale fließen jetzt über MQTT und werden in der Datenbank gespeichert.</a:t>
            </a:r>
            <a:endParaRPr lang="en-US" sz="16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96297"/>
            <a:ext cx="1957669" cy="8056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38912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SUNPOR Predictive AI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Zielsetzung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92840" y="201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02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804672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Zielsetzung</a:t>
            </a:r>
            <a:endParaRPr lang="en-US" sz="26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3232" y="1682496"/>
            <a:ext cx="640080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Das Ziel von Phase 1 war es, die technische Grundlage für eine zuverlässige Datenerfassung aus der SUNPOR-Produktionsumgebung aufzubauen und die Infrastruktur für die nachfolgenden Entwicklungsphasen vorzubereiten.</a:t>
            </a:r>
            <a:endParaRPr lang="en-US" sz="2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" y="36758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PHASENSTATUS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9808" y="40142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Abgeschlossen</a:t>
            </a:r>
            <a:endParaRPr lang="en-US" sz="27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69080" y="3675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A3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PROJEKT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69080" y="403250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SUNPOR Predictive AI</a:t>
            </a:r>
            <a:endParaRPr lang="en-US" sz="21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69080" y="451713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Infrastruktur- und Datenerfassungs-Setup für künftige KI-Entwicklungsphasen.</a:t>
            </a:r>
            <a:endParaRPr lang="en-US" sz="13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35240" y="1170432"/>
            <a:ext cx="329184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Produktionsumgebung</a:t>
            </a:r>
            <a:endParaRPr lang="en-US" sz="2100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→ Live-Signale</a:t>
            </a:r>
            <a:endParaRPr lang="en-US" sz="2100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→ MQTT-Broker</a:t>
            </a:r>
            <a:endParaRPr lang="en-US" sz="2100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→ Signalkatalog</a:t>
            </a:r>
            <a:endParaRPr lang="en-US" sz="2100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→ Datenbank</a:t>
            </a:r>
            <a:endParaRPr lang="en-US" sz="21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35240" y="5001768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52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Grundlage vorbereitet für Datenmodellierung, Prozessanalyse, Bedienereingaben und prädiktive Analytik.</a:t>
            </a:r>
            <a:endParaRPr lang="en-US" sz="152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19" y="4952694"/>
            <a:ext cx="2521272" cy="10376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38912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SUNPOR Predictive AI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Infrastruktur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92840" y="201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03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804672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1. Sichere Server-Infrastruktur</a:t>
            </a:r>
            <a:endParaRPr lang="en-US" sz="26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3232" y="1591056"/>
            <a:ext cx="52578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Zwei dedizierte Server wurden innerhalb der SUNPOR-Netzwerkumgebung vorbereitet und konfiguriert:</a:t>
            </a:r>
            <a:endParaRPr lang="en-US" sz="18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01</a:t>
            </a:r>
            <a:endParaRPr lang="en-US" sz="34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12848" y="278892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edge-s01</a:t>
            </a:r>
            <a:endParaRPr lang="en-US" sz="23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212848" y="3255264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Produktionsserver</a:t>
            </a:r>
            <a:endParaRPr lang="en-US" sz="14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02</a:t>
            </a:r>
            <a:endParaRPr lang="en-US" sz="34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12848" y="411480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edge-s02</a:t>
            </a:r>
            <a:endParaRPr lang="en-US" sz="23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12848" y="4581144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Entwicklungsserver</a:t>
            </a:r>
            <a:endParaRPr lang="en-US" sz="14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89320" y="2066544"/>
            <a:ext cx="49834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Beide Server wurden mit sicherem Remote-Zugriff, Netzwerkkonnektivität, den erforderlichen Systemkomponenten und Betriebsbereitschaft für künftige Anwendungsbereitstellung und Wartung konfiguriert.</a:t>
            </a:r>
            <a:endParaRPr lang="en-US" sz="18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89320" y="473659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Betriebsbereit für künftige Anwendungsbereitstellung und Wartungsaktivitäten</a:t>
            </a:r>
            <a:endParaRPr lang="en-US" sz="22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38912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SUNPOR Predictive AI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MQTT-Integration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92840" y="201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04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901696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2. MQTT-Datenintegration</a:t>
            </a:r>
            <a:endParaRPr lang="en-US" sz="26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3232" y="2624072"/>
            <a:ext cx="48006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Die MQTT-Kommunikationsschicht wurde erfolgreich auf dem Produktionsserver (edge-s01) bereitgestellt und konfiguriert.</a:t>
            </a:r>
            <a:endParaRPr lang="en-US" sz="17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3657344"/>
            <a:ext cx="48006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Die SUNPOR-Produktionslinie E10 wurde mit dem MQTT-Broker verbunden. Dadurch wird die Live-Übertragung von Prozessdaten aus der Produktionsumgebung in die Infrastruktur der KI-Plattform ermöglicht.</a:t>
            </a:r>
            <a:endParaRPr lang="en-US" sz="17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232" y="54296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E10 → MQTT-Broker → KI-Plattform</a:t>
            </a:r>
            <a:endParaRPr lang="en-US" sz="22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1" name="Image 0" descr="/mnt/data/WhatsApp Image 2026-06-22 at 3.54.38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1258583"/>
            <a:ext cx="5577840" cy="107642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61888" y="2432304"/>
            <a:ext cx="5577840" cy="0"/>
          </a:xfrm>
          <a:prstGeom prst="line">
            <a:avLst/>
          </a:prstGeom>
          <a:noFill/>
          <a:ln w="13970">
            <a:solidFill>
              <a:srgbClr val="00E6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61888" y="2907792"/>
            <a:ext cx="5449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Die MQTT-Topic-Struktur bestätigt, dass die Produktionslinie E10 verbunden ist. Die Signale sind in Bereiche wie Heizzone, Masse, Granu, Dosierung, Downstream, Offspec und Antrieb gruppiert.</a:t>
            </a:r>
            <a:endParaRPr lang="en-US" sz="162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961888" y="5230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Nachweis-Screenshot: MQTT-Broker-Topic-Struktur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08" y="769740"/>
            <a:ext cx="1894840" cy="7798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38912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SUNPOR Predictive AI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Datenflussvalidierung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92840" y="201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05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804672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3. Datenerfassung und Speicherprüfung</a:t>
            </a:r>
            <a:endParaRPr lang="en-US" sz="26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3232" y="1640811"/>
            <a:ext cx="4937760" cy="266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Der vollständige Datenfluss wurde erfolgreich geprüft:</a:t>
            </a:r>
            <a:endParaRPr lang="en-US" sz="17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8952" y="2222641"/>
            <a:ext cx="5029200" cy="21197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• Produktionssignale werden von der E10-Linie </a:t>
            </a:r>
            <a:r>
              <a:rPr lang="en-US" sz="1640" dirty="0" err="1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veröffentlicht</a:t>
            </a:r>
            <a:r>
              <a:rPr lang="en-US" sz="1640" dirty="0" smtClean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.</a:t>
            </a:r>
            <a:endParaRPr lang="en-US" sz="1640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 marL="0" indent="0">
              <a:buNone/>
            </a:pPr>
            <a:r>
              <a:rPr lang="en-US" sz="164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• Die Daten werden korrekt vom MQTT-Broker </a:t>
            </a:r>
            <a:r>
              <a:rPr lang="en-US" sz="1640" dirty="0" err="1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empfangen</a:t>
            </a:r>
            <a:r>
              <a:rPr lang="en-US" sz="1640" dirty="0" smtClean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.</a:t>
            </a:r>
            <a:endParaRPr lang="en-US" sz="1640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 marL="0" indent="0">
              <a:buNone/>
            </a:pPr>
            <a:r>
              <a:rPr lang="en-US" sz="164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• Eingehende Nachrichten werden verarbeitet und dem Signalkatalog zugeordnet.</a:t>
            </a:r>
            <a:endParaRPr lang="en-US" sz="1640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 marL="0" indent="0">
              <a:buNone/>
            </a:pPr>
            <a:r>
              <a:rPr lang="en-US" sz="164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• Prozessdaten werden erfolgreich in der Datenbank gespeichert.</a:t>
            </a:r>
            <a:endParaRPr lang="en-US" sz="164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8952" y="482803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5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Die erste Validierung bestätigt, dass Produktionsdaten nun kontinuierlich aus dem Produktionssystem in die SUNPOR-KI-Datenplattform fließen.</a:t>
            </a:r>
            <a:endParaRPr lang="en-US" sz="20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1" name="Image 0" descr="/mnt/data/WhatsApp Image 2026-06-22 at 3.54.37 PM (1).jpeg"/>
          <p:cNvPicPr>
            <a:picLocks noChangeAspect="1"/>
          </p:cNvPicPr>
          <p:nvPr/>
        </p:nvPicPr>
        <p:blipFill>
          <a:blip r:embed="rId3"/>
          <a:srcRect l="17646" r="17646"/>
          <a:stretch/>
        </p:blipFill>
        <p:spPr>
          <a:xfrm>
            <a:off x="5989320" y="960120"/>
            <a:ext cx="5468112" cy="51663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89320" y="6190488"/>
            <a:ext cx="5468112" cy="0"/>
          </a:xfrm>
          <a:prstGeom prst="line">
            <a:avLst/>
          </a:prstGeom>
          <a:noFill/>
          <a:ln w="13970">
            <a:solidFill>
              <a:srgbClr val="00E6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6272784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Nachweis-Screenshot: Live-Topic-Payloads und Signalwerte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38912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SUNPOR Predictive AI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Datenbankprüfung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92840" y="201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06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804672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Datenbankspeicherung geprüft</a:t>
            </a:r>
            <a:endParaRPr lang="en-US" sz="26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3232" y="1481328"/>
            <a:ext cx="107899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Prozessdaten werden erfolgreich in der Datenbank gespeichert. Die Beispielabfrage zeigt zeitgestempelte Signalwerte mit Qualität, Produktionslinie, Maschinenbereich, WinCC-Tag, Anzeigename, Einheit, Datentyp, Signalgruppe und Signalrolle.</a:t>
            </a:r>
            <a:endParaRPr lang="en-US" sz="172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9" name="Image 0" descr="/mnt/data/WhatsApp Image 2026-06-22 at 3.54.37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20367"/>
            <a:ext cx="10835640" cy="153730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4498848"/>
            <a:ext cx="10835640" cy="0"/>
          </a:xfrm>
          <a:prstGeom prst="line">
            <a:avLst/>
          </a:prstGeom>
          <a:noFill/>
          <a:ln w="13970">
            <a:solidFill>
              <a:srgbClr val="00E6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3" y="52303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Die Datenbankabfrage bestätigt, dass zugeordnete E10-Datensätze für nachgelagerte Analysen verfügbar sind.</a:t>
            </a:r>
            <a:endParaRPr lang="en-US" sz="22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13232" y="5806440"/>
            <a:ext cx="61863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Gespeicherte Signalbeispiele umfassen Materialproduktionsstatus, Antistatik-Menge, Pentan/Stickstoff und Off-spec-Mengen.</a:t>
            </a:r>
            <a:endParaRPr lang="en-US" sz="14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308" y="5001768"/>
            <a:ext cx="2521272" cy="1037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38912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SUNPOR Predictive AI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Operative Pipeline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92840" y="201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07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804672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Operative Datenerfassungs-Pipeline</a:t>
            </a:r>
            <a:endParaRPr lang="en-US" sz="26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3232" y="202996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Produktionssignale</a:t>
            </a:r>
            <a:endParaRPr lang="en-US" sz="2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5511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E10-Linie</a:t>
            </a:r>
            <a:endParaRPr lang="en-US" sz="13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89504" y="21214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→</a:t>
            </a:r>
            <a:endParaRPr lang="en-US" sz="22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83864" y="20299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MQTT-Broker</a:t>
            </a:r>
            <a:endParaRPr lang="en-US" sz="2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83864" y="255117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edge-s01</a:t>
            </a:r>
            <a:endParaRPr lang="en-US" sz="13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12664" y="21214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→</a:t>
            </a:r>
            <a:endParaRPr lang="en-US" sz="22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25312" y="202996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Verarbeitung</a:t>
            </a:r>
            <a:endParaRPr lang="en-US" sz="2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25312" y="2551176"/>
            <a:ext cx="302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Zuordnung</a:t>
            </a:r>
            <a:r>
              <a:rPr lang="en-US" sz="13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/</a:t>
            </a:r>
            <a:r>
              <a:rPr lang="en-US" sz="1300" dirty="0" err="1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Gruppierung</a:t>
            </a:r>
            <a:r>
              <a:rPr lang="en-US" sz="13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/</a:t>
            </a:r>
            <a:r>
              <a:rPr lang="en-US" sz="1300" dirty="0" err="1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Strukturierung</a:t>
            </a:r>
            <a:endParaRPr lang="en-US" sz="13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235440" y="21214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→</a:t>
            </a:r>
            <a:endParaRPr lang="en-US" sz="22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784080" y="20299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Datenbank</a:t>
            </a:r>
            <a:endParaRPr lang="en-US" sz="2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784080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Speicherung</a:t>
            </a:r>
            <a:endParaRPr lang="en-US" sz="13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520" y="3794760"/>
            <a:ext cx="516636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5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Die erforderliche Infrastruktur, Kommunikationsschicht und Datenerfassungs-Pipeline sind jetzt betriebsbereit.</a:t>
            </a:r>
            <a:endParaRPr lang="en-US" sz="18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63640" y="3794760"/>
            <a:ext cx="484632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5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Live-Produktionsdaten aus der E10-Linie werden gesammelt und gespeichert. Damit ist die Grundlage für die nächsten Projektphasen geschaffen.</a:t>
            </a:r>
            <a:endParaRPr lang="en-US" sz="18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53400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Bereit für: Datenmodellierung • Prozessanalyse • Bedienereingaben • prädiktive Analytik</a:t>
            </a:r>
            <a:endParaRPr lang="en-US" sz="2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38912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SUNPOR Predictive AI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Ergebnis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92840" y="201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08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904604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Ergebnis</a:t>
            </a:r>
            <a:endParaRPr lang="en-US" sz="26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3232" y="1654412"/>
            <a:ext cx="465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Phase 1 wurde erfolgreich abgeschlossen.</a:t>
            </a:r>
            <a:endParaRPr lang="en-US" sz="28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" y="2616669"/>
            <a:ext cx="5413486" cy="183283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8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Die erforderliche Infrastruktur, Kommunikationsschicht und Datenerfassungs-Pipeline sind jetzt betriebsbereit. Live-Produktionsdaten aus der E10-Linie werden gesammelt und gespeichert. Damit ist die Grundlage für die nächsten Projektphasen geschaffen, einschließlich Datenmodellierung, Prozessanalyse, Integration von Bedienereingaben und Entwicklung prädiktiver Analytik.</a:t>
            </a:r>
            <a:endParaRPr lang="en-US" sz="178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2" name="Image 0" descr="/mnt/data/WhatsApp Image 2026-06-22 at 3.54.38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320025"/>
            <a:ext cx="4846320" cy="93525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565392" y="2331720"/>
            <a:ext cx="4846320" cy="0"/>
          </a:xfrm>
          <a:prstGeom prst="line">
            <a:avLst/>
          </a:prstGeom>
          <a:noFill/>
          <a:ln w="13970">
            <a:solidFill>
              <a:srgbClr val="00E6C7"/>
            </a:solidFill>
            <a:prstDash val="solid"/>
          </a:ln>
        </p:spPr>
      </p:sp>
      <p:pic>
        <p:nvPicPr>
          <p:cNvPr id="14" name="Image 1" descr="/mnt/data/WhatsApp Image 2026-06-22 at 3.54.37 PM (1).jpeg"/>
          <p:cNvPicPr>
            <a:picLocks noChangeAspect="1"/>
          </p:cNvPicPr>
          <p:nvPr/>
        </p:nvPicPr>
        <p:blipFill>
          <a:blip r:embed="rId4"/>
          <a:srcRect t="5868" b="5868"/>
          <a:stretch/>
        </p:blipFill>
        <p:spPr>
          <a:xfrm>
            <a:off x="6565392" y="2743200"/>
            <a:ext cx="4846320" cy="261518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565392" y="5422392"/>
            <a:ext cx="4846320" cy="0"/>
          </a:xfrm>
          <a:prstGeom prst="line">
            <a:avLst/>
          </a:prstGeom>
          <a:noFill/>
          <a:ln w="13970">
            <a:solidFill>
              <a:srgbClr val="00E6C7"/>
            </a:solidFill>
            <a:prstDash val="solid"/>
          </a:ln>
        </p:spPr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08" y="4954811"/>
            <a:ext cx="2521272" cy="1037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38912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14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SUNPOR Predictive AI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Ergebnis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92840" y="201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08</a:t>
            </a:r>
            <a:endParaRPr lang="en-US" sz="9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31480" y="535458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Erstellt von:</a:t>
            </a:r>
            <a:endParaRPr lang="en-US" sz="12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31480" y="564719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Sclera KI Cyber Solutions</a:t>
            </a:r>
            <a:endParaRPr lang="en-US" sz="1650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SUNPOR Predictive AI Projektteam</a:t>
            </a:r>
            <a:endParaRPr lang="en-US" sz="165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6" name="Text 5"/>
          <p:cNvSpPr/>
          <p:nvPr/>
        </p:nvSpPr>
        <p:spPr>
          <a:xfrm>
            <a:off x="685800" y="759160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600" b="1" dirty="0" err="1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Nächste</a:t>
            </a:r>
            <a:r>
              <a:rPr lang="en-US" sz="2600" b="1" dirty="0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Schritte</a:t>
            </a:r>
            <a:endParaRPr lang="en-US" sz="26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7" name="Text 6"/>
          <p:cNvSpPr/>
          <p:nvPr/>
        </p:nvSpPr>
        <p:spPr>
          <a:xfrm>
            <a:off x="713232" y="1473343"/>
            <a:ext cx="79557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de-DE" sz="2800" b="1" dirty="0">
                <a:solidFill>
                  <a:srgbClr val="00E6C7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 Display" pitchFamily="34" charset="-120"/>
              </a:rPr>
              <a:t>Im Rahmen der nächsten Projektphase werden die folgenden Arbeiten durchgeführt:</a:t>
            </a:r>
            <a:endParaRPr lang="en-US" sz="28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8" name="Text 7"/>
          <p:cNvSpPr/>
          <p:nvPr/>
        </p:nvSpPr>
        <p:spPr>
          <a:xfrm>
            <a:off x="713232" y="2509553"/>
            <a:ext cx="5413486" cy="29281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r>
              <a:rPr lang="de-DE" sz="14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• </a:t>
            </a:r>
            <a:r>
              <a:rPr lang="de-DE" sz="1400" dirty="0" smtClean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Einrichtung </a:t>
            </a:r>
            <a:r>
              <a:rPr lang="de-DE" sz="14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des VPN-Zugangs zur SUNPOR-Umgebung, um einen sicheren und kontrollierten Fernzugriff auf die Systeme zu ermöglichen</a:t>
            </a:r>
            <a:r>
              <a:rPr lang="de-DE" sz="1400" dirty="0" smtClean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.</a:t>
            </a:r>
            <a:endParaRPr lang="en-US" sz="1400" dirty="0"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r>
              <a:rPr lang="de-DE" sz="1400" dirty="0" smtClean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• Strukturierung, Validierung und Aufbereitung der erfassten Produktionsdaten als Grundlage für spätere Analysen und KI-Modelle.</a:t>
            </a:r>
          </a:p>
          <a:p>
            <a:r>
              <a:rPr lang="de-DE" sz="1400" dirty="0" smtClean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• Erweiterung </a:t>
            </a:r>
            <a:r>
              <a:rPr lang="de-DE" sz="14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der Datenpipeline sowie erste Visualisierung der Produktionsdaten innerhalb der Plattform</a:t>
            </a:r>
            <a:r>
              <a:rPr lang="de-DE" sz="1400" dirty="0" smtClean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.</a:t>
            </a:r>
          </a:p>
          <a:p>
            <a:r>
              <a:rPr lang="de-DE" sz="1400" dirty="0" smtClean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• Implementierung </a:t>
            </a:r>
            <a:r>
              <a:rPr lang="de-DE" sz="14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der Bedieneroberflächen (Operator Forms) zur Erfassung von Produktionsereignissen, Qualitätsinformationen und manuellen Eingaben. </a:t>
            </a:r>
            <a:endParaRPr lang="de-DE" sz="1400" dirty="0" smtClean="0">
              <a:solidFill>
                <a:srgbClr val="B8C2CC"/>
              </a:solidFill>
              <a:latin typeface="Inter 18pt" panose="02000503000000020004" pitchFamily="2" charset="0"/>
              <a:ea typeface="Inter 18pt" panose="02000503000000020004" pitchFamily="2" charset="0"/>
              <a:cs typeface="Aptos" pitchFamily="34" charset="-120"/>
            </a:endParaRPr>
          </a:p>
          <a:p>
            <a:r>
              <a:rPr lang="de-DE" sz="1400" dirty="0" smtClean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• Vorbereitung </a:t>
            </a:r>
            <a:r>
              <a:rPr lang="de-DE" sz="1400" dirty="0">
                <a:solidFill>
                  <a:srgbClr val="B8C2CC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der Systemzugänge für Produktionsleitung und relevante Teammitglieder zur zukünftigen Nutzung und Bewertung der Plattform.</a:t>
            </a:r>
          </a:p>
        </p:txBody>
      </p:sp>
      <p:sp>
        <p:nvSpPr>
          <p:cNvPr id="20" name="Text 10"/>
          <p:cNvSpPr/>
          <p:nvPr/>
        </p:nvSpPr>
        <p:spPr>
          <a:xfrm>
            <a:off x="713232" y="5736554"/>
            <a:ext cx="4998799" cy="37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200" b="1" dirty="0">
                <a:solidFill>
                  <a:srgbClr val="74819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ptos" pitchFamily="34" charset="-120"/>
              </a:rPr>
              <a:t>Diese Arbeiten bilden die Grundlage für die weiteren Entwicklungsphasen des SUNPOR Predictive AI Systems.</a:t>
            </a:r>
            <a:endParaRPr lang="en-US" sz="12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480" y="4047963"/>
            <a:ext cx="2521272" cy="103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5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641</Words>
  <Application>Microsoft Office PowerPoint</Application>
  <PresentationFormat>Widescreen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Inter 18pt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Sclera KI Cyber Solutions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SUNPOR Predictive AI - Phase 1 Abschlussbericht</dc:title>
  <dc:subject>SUNPOR Predictive AI - Phase 1 Abschlussbericht</dc:subject>
  <dc:creator>Sclera KI Cyber Solutions</dc:creator>
  <cp:lastModifiedBy>Hassam</cp:lastModifiedBy>
  <cp:revision>5</cp:revision>
  <dcterms:created xsi:type="dcterms:W3CDTF">2026-06-22T11:16:20Z</dcterms:created>
  <dcterms:modified xsi:type="dcterms:W3CDTF">2026-06-22T13:59:21Z</dcterms:modified>
</cp:coreProperties>
</file>